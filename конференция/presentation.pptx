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28" r:id="rId3"/>
    <p:sldMasterId id="2147483833" r:id="rId4"/>
  </p:sldMasterIdLst>
  <p:notesMasterIdLst>
    <p:notesMasterId r:id="rId34"/>
  </p:notesMasterIdLst>
  <p:handoutMasterIdLst>
    <p:handoutMasterId r:id="rId35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</p14:sldIdLst>
        </p14:section>
        <p14:section name="Пример презентации" id="{09F8C32E-5747-4822-BAD0-340E7A748DE7}">
          <p14:sldIdLst>
            <p14:sldId id="1174"/>
            <p14:sldId id="1170"/>
            <p14:sldId id="1180"/>
            <p14:sldId id="1181"/>
            <p14:sldId id="1179"/>
            <p14:sldId id="1177"/>
            <p14:sldId id="1186"/>
            <p14:sldId id="1187"/>
            <p14:sldId id="1188"/>
            <p14:sldId id="1194"/>
            <p14:sldId id="1195"/>
            <p14:sldId id="1189"/>
            <p14:sldId id="1198"/>
            <p14:sldId id="1129"/>
            <p14:sldId id="1119"/>
          </p14:sldIdLst>
        </p14:section>
        <p14:section name="Дополнительные материалы" id="{62AE7809-B62A-4B2F-9EA4-7E7E0961CF08}">
          <p14:sldIdLst>
            <p14:sldId id="1175"/>
            <p14:sldId id="1190"/>
            <p14:sldId id="1191"/>
            <p14:sldId id="1120"/>
          </p14:sldIdLst>
        </p14:section>
        <p14:section name="Макеты для завершения презентации" id="{7BDEF82D-D64F-4A14-9B34-FEADAC1724BD}">
          <p14:sldIdLst>
            <p14:sldId id="1192"/>
            <p14:sldId id="1193"/>
            <p14:sldId id="11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163" d="100"/>
          <a:sy n="163" d="100"/>
        </p:scale>
        <p:origin x="138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16.06.2023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212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5615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42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1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6" Type="http://schemas.openxmlformats.org/officeDocument/2006/relationships/image" Target="../media/image4.png"/><Relationship Id="rId7" Type="http://schemas.openxmlformats.org/officeDocument/2006/relationships/image" Target="../media/image5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theme" Target="../theme/theme4.xml"/><Relationship Id="rId8" Type="http://schemas.openxmlformats.org/officeDocument/2006/relationships/image" Target="../media/image4.png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4" r:id="rId2"/>
    <p:sldLayoutId id="2147483832" r:id="rId3"/>
    <p:sldLayoutId id="214748384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4" y="2000000"/>
            <a:ext cx="9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5AAA"/>
                </a:solidFill>
                <a:latin typeface="Arial"/>
              </a:rPr>
              <a:t>Разработка программного комплекса</a:t>
            </a:r>
          </a:p>
          <a:p>
            <a:pPr algn="l"/>
            <a:r>
              <a:rPr sz="3800" b="0" i="0">
                <a:solidFill>
                  <a:srgbClr val="005AAA"/>
                </a:solidFill>
                <a:latin typeface="Arial"/>
              </a:rPr>
              <a:t>оркестрации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863" y="4200000"/>
            <a:ext cx="7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42834"/>
                </a:solidFill>
                <a:latin typeface="Arial"/>
              </a:rPr>
              <a:t>Соколов Илья Дмитриевич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242834"/>
                </a:solidFill>
                <a:latin typeface="Arial"/>
              </a:rPr>
              <a:t>Санкт-Петербургский государственный университет</a:t>
            </a:r>
          </a:p>
          <a:p>
            <a:pPr algn="l"/>
            <a:r>
              <a:rPr sz="1400" b="0" i="0">
                <a:solidFill>
                  <a:srgbClr val="242834"/>
                </a:solidFill>
                <a:latin typeface="Arial"/>
              </a:rPr>
              <a:t>аэрокосмического приборостроения (ГУАП)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598" y="5993952"/>
            <a:ext cx="348854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242834"/>
                </a:solidFill>
                <a:latin typeface="Arial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Оркестрация в программной инженерии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0863" y="1000000"/>
            <a:ext cx="10800000" cy="800000"/>
          </a:xfrm>
          <a:prstGeom prst="round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Оркестрация — автоматическая координация взаимосвязанных процессов, сервисов и данных для достижения целостного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63" y="2100000"/>
            <a:ext cx="52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Arial"/>
              </a:rPr>
              <a:t>Аналогия с дирижёром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242834"/>
                </a:solidFill>
                <a:latin typeface="Arial"/>
              </a:rPr>
              <a:t>Как дирижёр оркестра не играет на инструментах сам, а координирует музыкантов — так и оркестратор не выполняет задачи, а управляет их порядком, зависимостями и потоками данных.</a:t>
            </a:r>
          </a:p>
          <a:p>
            <a:pPr algn="l">
              <a:spcBef>
                <a:spcPts val="1800"/>
              </a:spcBef>
            </a:pPr>
            <a:r>
              <a:rPr sz="1600" b="1" i="0">
                <a:solidFill>
                  <a:srgbClr val="005AAA"/>
                </a:solidFill>
                <a:latin typeface="Arial"/>
              </a:rPr>
              <a:t>Ключевые свойства: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Централизованное управление потоком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Определённый порядок выполнения шагов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Обработка ошибок и откатов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Мониторинг состояния всего конвейера</a:t>
            </a:r>
          </a:p>
        </p:txBody>
      </p:sp>
      <p:sp>
        <p:nvSpPr>
          <p:cNvPr id="5" name="Oval 4"/>
          <p:cNvSpPr/>
          <p:nvPr/>
        </p:nvSpPr>
        <p:spPr>
          <a:xfrm>
            <a:off x="8400000" y="2900000"/>
            <a:ext cx="1000000" cy="1000000"/>
          </a:xfrm>
          <a:prstGeom prst="ellipse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Оркестратор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0000" y="1900000"/>
            <a:ext cx="1300000" cy="600000"/>
          </a:xfrm>
          <a:prstGeom prst="round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Сервис A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7350000" y="2200000"/>
            <a:ext cx="1550000" cy="1200000"/>
          </a:xfrm>
          <a:prstGeom prst="line">
            <a:avLst/>
          </a:prstGeom>
          <a:ln w="25400">
            <a:solidFill>
              <a:srgbClr val="00BE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300000" y="1900000"/>
            <a:ext cx="1300000" cy="600000"/>
          </a:xfrm>
          <a:prstGeom prst="round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Сервис B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900000" y="2200000"/>
            <a:ext cx="2050000" cy="1200000"/>
          </a:xfrm>
          <a:prstGeom prst="line">
            <a:avLst/>
          </a:prstGeom>
          <a:ln w="25400">
            <a:solidFill>
              <a:srgbClr val="926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00000" y="4300000"/>
            <a:ext cx="1300000" cy="600000"/>
          </a:xfrm>
          <a:prstGeom prst="round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Данные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350000" y="3400000"/>
            <a:ext cx="1550000" cy="1200000"/>
          </a:xfrm>
          <a:prstGeom prst="line">
            <a:avLst/>
          </a:prstGeom>
          <a:ln w="25400">
            <a:solidFill>
              <a:srgbClr val="FF64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300000" y="4300000"/>
            <a:ext cx="1300000" cy="600000"/>
          </a:xfrm>
          <a:prstGeom prst="round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00000" y="3400000"/>
            <a:ext cx="2050000" cy="1200000"/>
          </a:xfrm>
          <a:prstGeom prst="line">
            <a:avLst/>
          </a:prstGeom>
          <a:ln w="25400">
            <a:solidFill>
              <a:srgbClr val="009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Оркестрация, хореография и автоматизация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1100000"/>
            <a:ext cx="3500000" cy="550000"/>
          </a:xfrm>
          <a:prstGeom prst="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Автоматизация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" y="18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Отдельный процесс
выполняется без участия
человека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315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Нет координации
между процессами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45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Пример: скрипт сборки,
cron-задача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100000"/>
            <a:ext cx="3500000" cy="550000"/>
          </a:xfrm>
          <a:prstGeom prst="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Оркестрация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000" y="18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Центральный контроллер
управляет всеми
участниками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000" y="315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Знает весь workflow
целиком, принимает
решения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000" y="45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Пример: Kubernetes,
Apache Airflow,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0" y="1100000"/>
            <a:ext cx="3500000" cy="550000"/>
          </a:xfrm>
          <a:prstGeom prst="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Хореография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0000" y="18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Участники реагируют
на события
самостоятельно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0000" y="315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Нет единого центра,
каждый знает
свою роль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0000" y="4500000"/>
            <a:ext cx="3400000" cy="11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0" i="0">
                <a:solidFill>
                  <a:srgbClr val="242834"/>
                </a:solidFill>
                <a:latin typeface="Arial"/>
              </a:rPr>
              <a:t>Пример: микросервисы
с event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863" y="6200000"/>
            <a:ext cx="10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Arial"/>
              </a:rPr>
              <a:t>Оркестрация сочетает контроль автоматизации с масштабом координации хореографии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Области применения оркестрации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0000" y="1150000"/>
            <a:ext cx="3500000" cy="2400000"/>
          </a:xfrm>
          <a:prstGeom prst="round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0000" y="13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Контейнеры
и облако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" y="23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Kubernetes, Docker
Swarm, Nomad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0" y="1150000"/>
            <a:ext cx="3500000" cy="2400000"/>
          </a:xfrm>
          <a:prstGeom prst="round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0000" y="13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CI / 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0000" y="23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Jenkins, GitLab CI,
GitHub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00000" y="1150000"/>
            <a:ext cx="3500000" cy="2400000"/>
          </a:xfrm>
          <a:prstGeom prst="round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0000" y="13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Data
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0000" y="23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Apache Airflow,
Luigi, Prefect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3950000"/>
            <a:ext cx="3500000" cy="2400000"/>
          </a:xfrm>
          <a:prstGeom prst="round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000" y="41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Бизнес-
процессы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" y="51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Camunda, Temporal,
Apache Camel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0000" y="3950000"/>
            <a:ext cx="3500000" cy="2400000"/>
          </a:xfrm>
          <a:prstGeom prst="round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00" y="41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IoT и
встраиваемые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00" y="51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Node-RED,
AWS IoT Greengrass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0000" y="3950000"/>
            <a:ext cx="3500000" cy="2400000"/>
          </a:xfrm>
          <a:prstGeom prst="round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000" y="41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Документо-
оборот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000" y="51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Генерация отчётов,
миграции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Архитектурные паттерны оркестрации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863" y="1100000"/>
            <a:ext cx="54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AAA"/>
                </a:solidFill>
                <a:latin typeface="Arial"/>
              </a:rPr>
              <a:t>Центральный контроллер (Mediator)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242834"/>
                </a:solidFill>
                <a:latin typeface="Arial"/>
              </a:rPr>
              <a:t>Один компонент знает весь workflow и вызывает участников последовательно</a:t>
            </a:r>
          </a:p>
          <a:p>
            <a:pPr algn="l">
              <a:spcBef>
                <a:spcPts val="1600"/>
              </a:spcBef>
            </a:pPr>
            <a:r>
              <a:rPr sz="1500" b="1" i="0">
                <a:solidFill>
                  <a:srgbClr val="005AAA"/>
                </a:solidFill>
                <a:latin typeface="Arial"/>
              </a:rPr>
              <a:t>Конвейер (Pipeline / Chain)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242834"/>
                </a:solidFill>
                <a:latin typeface="Arial"/>
              </a:rPr>
              <a:t>Данные проходят через цепочку обработчиков, каждый выполняет свою трансформацию</a:t>
            </a:r>
          </a:p>
          <a:p>
            <a:pPr algn="l">
              <a:spcBef>
                <a:spcPts val="1600"/>
              </a:spcBef>
            </a:pPr>
            <a:r>
              <a:rPr sz="1500" b="1" i="0">
                <a:solidFill>
                  <a:srgbClr val="005AAA"/>
                </a:solidFill>
                <a:latin typeface="Arial"/>
              </a:rPr>
              <a:t>Saga-паттерн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242834"/>
                </a:solidFill>
                <a:latin typeface="Arial"/>
              </a:rPr>
              <a:t>Длительная транзакция из шагов с компенсирующими действиями при ошибке</a:t>
            </a:r>
          </a:p>
          <a:p>
            <a:pPr algn="l">
              <a:spcBef>
                <a:spcPts val="1600"/>
              </a:spcBef>
            </a:pPr>
            <a:r>
              <a:rPr sz="1500" b="1" i="0">
                <a:solidFill>
                  <a:srgbClr val="005AAA"/>
                </a:solidFill>
                <a:latin typeface="Arial"/>
              </a:rPr>
              <a:t>DAG (направленный ациклический граф)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242834"/>
                </a:solidFill>
                <a:latin typeface="Arial"/>
              </a:rPr>
              <a:t>Задачи образуют граф зависимостей; выполняются параллельно где возможно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0000" y="1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AAA"/>
                </a:solidFill>
                <a:latin typeface="Arial"/>
              </a:rPr>
              <a:t>Паттерн «Конвейер»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0000" y="1500000"/>
            <a:ext cx="4000000" cy="580000"/>
          </a:xfrm>
          <a:prstGeom prst="round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Вход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00000" y="2080000"/>
            <a:ext cx="0" cy="320000"/>
          </a:xfrm>
          <a:prstGeom prst="line">
            <a:avLst/>
          </a:prstGeom>
          <a:ln w="25400">
            <a:solidFill>
              <a:srgbClr val="00BE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00000" y="2400000"/>
            <a:ext cx="4000000" cy="580000"/>
          </a:xfrm>
          <a:prstGeom prst="round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Парсинг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00000" y="2980000"/>
            <a:ext cx="0" cy="320000"/>
          </a:xfrm>
          <a:prstGeom prst="line">
            <a:avLst/>
          </a:prstGeom>
          <a:ln w="25400">
            <a:solidFill>
              <a:srgbClr val="926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00000" y="3300000"/>
            <a:ext cx="4000000" cy="580000"/>
          </a:xfrm>
          <a:prstGeom prst="round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Валидация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00000" y="3880000"/>
            <a:ext cx="0" cy="320000"/>
          </a:xfrm>
          <a:prstGeom prst="line">
            <a:avLst/>
          </a:prstGeom>
          <a:ln w="25400">
            <a:solidFill>
              <a:srgbClr val="005A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00000" y="4200000"/>
            <a:ext cx="4000000" cy="580000"/>
          </a:xfrm>
          <a:prstGeom prst="round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Трансформация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00000" y="4780000"/>
            <a:ext cx="0" cy="320000"/>
          </a:xfrm>
          <a:prstGeom prst="line">
            <a:avLst/>
          </a:prstGeom>
          <a:ln w="25400">
            <a:solidFill>
              <a:srgbClr val="FF64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00000" y="5100000"/>
            <a:ext cx="4000000" cy="580000"/>
          </a:xfrm>
          <a:prstGeom prst="round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Выход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58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Arial"/>
              </a:rPr>
              <a:t>Паттерн «DAG»: параллельное выполнение независимых задач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Ключевые компоненты программного оркестратора</a:t>
            </a:r>
          </a:p>
        </p:txBody>
      </p:sp>
      <p:sp>
        <p:nvSpPr>
          <p:cNvPr id="3" name="Oval 2"/>
          <p:cNvSpPr/>
          <p:nvPr/>
        </p:nvSpPr>
        <p:spPr>
          <a:xfrm>
            <a:off x="400000" y="1300000"/>
            <a:ext cx="700000" cy="700000"/>
          </a:xfrm>
          <a:prstGeom prst="ellipse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0000" y="12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Планировщик (Scheduler)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0000" y="18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Определяет порядок
и время запуска задач</a:t>
            </a:r>
          </a:p>
        </p:txBody>
      </p:sp>
      <p:sp>
        <p:nvSpPr>
          <p:cNvPr id="6" name="Oval 5"/>
          <p:cNvSpPr/>
          <p:nvPr/>
        </p:nvSpPr>
        <p:spPr>
          <a:xfrm>
            <a:off x="4300000" y="1300000"/>
            <a:ext cx="700000" cy="700000"/>
          </a:xfrm>
          <a:prstGeom prst="ellipse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0000" y="12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Менеджер состояний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0000" y="18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Хранит текущий этап
workflow и контекст</a:t>
            </a:r>
          </a:p>
        </p:txBody>
      </p:sp>
      <p:sp>
        <p:nvSpPr>
          <p:cNvPr id="9" name="Oval 8"/>
          <p:cNvSpPr/>
          <p:nvPr/>
        </p:nvSpPr>
        <p:spPr>
          <a:xfrm>
            <a:off x="8200000" y="1300000"/>
            <a:ext cx="700000" cy="700000"/>
          </a:xfrm>
          <a:prstGeom prst="ellipse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000" y="12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Адаптеры источников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000" y="18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Получают данные из
внешних систем и API</a:t>
            </a:r>
          </a:p>
        </p:txBody>
      </p:sp>
      <p:sp>
        <p:nvSpPr>
          <p:cNvPr id="12" name="Oval 11"/>
          <p:cNvSpPr/>
          <p:nvPr/>
        </p:nvSpPr>
        <p:spPr>
          <a:xfrm>
            <a:off x="400000" y="4000000"/>
            <a:ext cx="700000" cy="700000"/>
          </a:xfrm>
          <a:prstGeom prst="ellipse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000" y="39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Движок трансформаций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00" y="45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Преобразует данные
между этапами</a:t>
            </a:r>
          </a:p>
        </p:txBody>
      </p:sp>
      <p:sp>
        <p:nvSpPr>
          <p:cNvPr id="15" name="Oval 14"/>
          <p:cNvSpPr/>
          <p:nvPr/>
        </p:nvSpPr>
        <p:spPr>
          <a:xfrm>
            <a:off x="4300000" y="4000000"/>
            <a:ext cx="700000" cy="700000"/>
          </a:xfrm>
          <a:prstGeom prst="ellipse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0000" y="39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Обработчик ошибок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0000" y="45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Retry, fallback,
компенсация, логирование</a:t>
            </a:r>
          </a:p>
        </p:txBody>
      </p:sp>
      <p:sp>
        <p:nvSpPr>
          <p:cNvPr id="18" name="Oval 17"/>
          <p:cNvSpPr/>
          <p:nvPr/>
        </p:nvSpPr>
        <p:spPr>
          <a:xfrm>
            <a:off x="8200000" y="4000000"/>
            <a:ext cx="700000" cy="700000"/>
          </a:xfrm>
          <a:prstGeom prst="ellipse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0000" y="39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2834"/>
                </a:solidFill>
                <a:latin typeface="Arial"/>
              </a:rPr>
              <a:t>Интерфейс мониторинга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0000" y="4500000"/>
            <a:ext cx="2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Arial"/>
              </a:rPr>
              <a:t>Визуализация прогресса
и метрик выполнения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Преимущества и вызовы оркестрации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863" y="1000000"/>
            <a:ext cx="5200000" cy="55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Преимущества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863" y="1700000"/>
            <a:ext cx="5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42834"/>
                </a:solidFill>
                <a:latin typeface="Arial"/>
              </a:rPr>
              <a:t>Прозрачность — Весь процесс виден и предсказуем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Повторяемость — Одинаковый результат при одинаковых входных данных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Масштабируемость — Легко добавлять новые этапы и источники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Обработка ошибок — Централизованный retry, fallback, компенсация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Наблюдаемость — Логирование и мониторинг каждого шага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000" y="1000000"/>
            <a:ext cx="5200000" cy="55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Вызовы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700000"/>
            <a:ext cx="5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42834"/>
                </a:solidFill>
                <a:latin typeface="Arial"/>
              </a:rPr>
              <a:t>Единая точка отказа — Сбой оркестратора останавливает всё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Сложность отладки — Многошаговые конвейеры трудно трассировать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Связанность — Оркестратор должен знать обо всех участниках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Производительность — Централизация может стать узким местом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63" y="6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Arial"/>
              </a:rPr>
              <a:t>Баланс: оркестрация оправдана при сложных workflow с множеством зависимостей и строгими требованиями к порядку выполнения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Технологический ландшафт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863" y="1100000"/>
            <a:ext cx="2800000" cy="1050000"/>
          </a:xfrm>
          <a:prstGeom prst="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Контейнерная оркестрация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0" y="11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00000" y="12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0000" y="16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Google → CNCF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0000" y="11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0000" y="12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Docker Swarm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6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Docker Inc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00" y="11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0000" y="12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Nomad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0" y="16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HashiCorp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863" y="2400000"/>
            <a:ext cx="2800000" cy="1050000"/>
          </a:xfrm>
          <a:prstGeom prst="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Workflow /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0" y="24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0000" y="25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Apache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0000" y="29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Airbnb → Apache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0000" y="24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5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Prefect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29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Prefect.io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00" y="24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000" y="25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Temporal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000" y="29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Temporal.io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863" y="3700000"/>
            <a:ext cx="2800000" cy="1050000"/>
          </a:xfrm>
          <a:prstGeom prst="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CI/CD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0" y="37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0000" y="38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Jenkins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0000" y="42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Open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0000" y="37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38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GitLab 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000" y="42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GitLab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00000" y="37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0000" y="38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GitHub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000" y="42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GitHub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0863" y="5000000"/>
            <a:ext cx="2800000" cy="1050000"/>
          </a:xfrm>
          <a:prstGeom prst="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Бизнес-процессы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0000" y="50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0000" y="51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Camunda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0000" y="55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Camunda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0000" y="50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0000" y="51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Apache Camel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0000" y="55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Apache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00000" y="5050000"/>
            <a:ext cx="2600000" cy="950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0000" y="513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42834"/>
                </a:solidFill>
                <a:latin typeface="Arial"/>
              </a:rPr>
              <a:t>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000" y="55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Arial"/>
              </a:rPr>
              <a:t>Open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Принципы проектирования оркестратора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863" y="1050000"/>
            <a:ext cx="80000" cy="900000"/>
          </a:xfrm>
          <a:prstGeom prst="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1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5AAA"/>
                </a:solidFill>
                <a:latin typeface="Arial"/>
              </a:rPr>
              <a:t>Идемпотентность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0" y="1100000"/>
            <a:ext cx="7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2834"/>
                </a:solidFill>
                <a:latin typeface="Arial"/>
              </a:rPr>
              <a:t>Повторный запуск шага даёт тот же результат.
Позволяет безопасно перезапускать при сбоях.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863" y="2150000"/>
            <a:ext cx="80000" cy="900000"/>
          </a:xfrm>
          <a:prstGeom prst="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22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EF3"/>
                </a:solidFill>
                <a:latin typeface="Arial"/>
              </a:rPr>
              <a:t>Слабая связанность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0" y="2200000"/>
            <a:ext cx="7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2834"/>
                </a:solidFill>
                <a:latin typeface="Arial"/>
              </a:rPr>
              <a:t>Участники не знают друг о друге — только оркестратор
знает полный workflow. Упрощает замену компонентов.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863" y="3250000"/>
            <a:ext cx="80000" cy="900000"/>
          </a:xfrm>
          <a:prstGeom prst="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33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269C9"/>
                </a:solidFill>
                <a:latin typeface="Arial"/>
              </a:rPr>
              <a:t>Наблюдаемость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0" y="3300000"/>
            <a:ext cx="7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2834"/>
                </a:solidFill>
                <a:latin typeface="Arial"/>
              </a:rPr>
              <a:t>Каждый шаг логирует вход, выход и метрики.
Даёт возможность диагностики и оптимизации.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863" y="4350000"/>
            <a:ext cx="80000" cy="900000"/>
          </a:xfrm>
          <a:prstGeom prst="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00" y="44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418"/>
                </a:solidFill>
                <a:latin typeface="Arial"/>
              </a:rPr>
              <a:t>Декларативность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000" y="4400000"/>
            <a:ext cx="7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2834"/>
                </a:solidFill>
                <a:latin typeface="Arial"/>
              </a:rPr>
              <a:t>Описание workflow отделено от реализации шагов.
DAG/YAML/JSON вместо императивного кода.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863" y="5450000"/>
            <a:ext cx="80000" cy="9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55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0F47"/>
                </a:solidFill>
                <a:latin typeface="Arial"/>
              </a:rPr>
              <a:t>Отказоустойчивость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000" y="5500000"/>
            <a:ext cx="7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2834"/>
                </a:solidFill>
                <a:latin typeface="Arial"/>
              </a:rPr>
              <a:t>Retry с backoff, circuit breaker, компенсирующие
транзакции. Система продолжает работу при частичных сбоях.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Практический пример: оркестратор паспортов ПАС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863" y="900000"/>
            <a:ext cx="10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Arial"/>
              </a:rPr>
              <a:t>Применение принципов оркестрации при формировании паспортов аппаратно-программных средств</a:t>
            </a:r>
          </a:p>
        </p:txBody>
      </p:sp>
      <p:sp>
        <p:nvSpPr>
          <p:cNvPr id="4" name="Chevron 3"/>
          <p:cNvSpPr/>
          <p:nvPr/>
        </p:nvSpPr>
        <p:spPr>
          <a:xfrm>
            <a:off x="200000" y="1400000"/>
            <a:ext cx="2150000" cy="800000"/>
          </a:xfrm>
          <a:prstGeom prst="chevron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Ввод
параметров</a:t>
            </a:r>
          </a:p>
        </p:txBody>
      </p:sp>
      <p:sp>
        <p:nvSpPr>
          <p:cNvPr id="5" name="Chevron 4"/>
          <p:cNvSpPr/>
          <p:nvPr/>
        </p:nvSpPr>
        <p:spPr>
          <a:xfrm>
            <a:off x="2550000" y="1400000"/>
            <a:ext cx="2150000" cy="800000"/>
          </a:xfrm>
          <a:prstGeom prst="chevron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Парсинг
pci -vvv</a:t>
            </a:r>
          </a:p>
        </p:txBody>
      </p:sp>
      <p:sp>
        <p:nvSpPr>
          <p:cNvPr id="6" name="Chevron 5"/>
          <p:cNvSpPr/>
          <p:nvPr/>
        </p:nvSpPr>
        <p:spPr>
          <a:xfrm>
            <a:off x="4900000" y="1400000"/>
            <a:ext cx="2150000" cy="800000"/>
          </a:xfrm>
          <a:prstGeom prst="chevron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Идентификация
устройств</a:t>
            </a:r>
          </a:p>
        </p:txBody>
      </p:sp>
      <p:sp>
        <p:nvSpPr>
          <p:cNvPr id="7" name="Chevron 6"/>
          <p:cNvSpPr/>
          <p:nvPr/>
        </p:nvSpPr>
        <p:spPr>
          <a:xfrm>
            <a:off x="7250000" y="1400000"/>
            <a:ext cx="2150000" cy="800000"/>
          </a:xfrm>
          <a:prstGeom prst="chevron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Привязка
к подсистемам</a:t>
            </a:r>
          </a:p>
        </p:txBody>
      </p:sp>
      <p:sp>
        <p:nvSpPr>
          <p:cNvPr id="8" name="Chevron 7"/>
          <p:cNvSpPr/>
          <p:nvPr/>
        </p:nvSpPr>
        <p:spPr>
          <a:xfrm>
            <a:off x="9600000" y="1400000"/>
            <a:ext cx="2150000" cy="800000"/>
          </a:xfrm>
          <a:prstGeom prst="chevron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Генерация
отчёта 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863" y="250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AAA"/>
                </a:solidFill>
                <a:latin typeface="Arial"/>
              </a:rPr>
              <a:t>Реализованные принципы:</a:t>
            </a:r>
          </a:p>
          <a:p>
            <a:pPr>
              <a:spcBef>
                <a:spcPts val="400"/>
              </a:spcBef>
              <a:buChar char="●"/>
            </a:pPr>
            <a:r>
              <a:rPr sz="1300" b="0">
                <a:solidFill>
                  <a:srgbClr val="242834"/>
                </a:solidFill>
                <a:latin typeface="Arial"/>
              </a:rPr>
              <a:t>Конвейер: данные проходят через 5 последовательных этапов обработки</a:t>
            </a:r>
          </a:p>
          <a:p>
            <a:pPr>
              <a:spcBef>
                <a:spcPts val="400"/>
              </a:spcBef>
              <a:buChar char="●"/>
            </a:pPr>
            <a:r>
              <a:rPr sz="1300" b="0">
                <a:solidFill>
                  <a:srgbClr val="242834"/>
                </a:solidFill>
                <a:latin typeface="Arial"/>
              </a:rPr>
              <a:t>Центральный контроллер: AppController координирует все модули</a:t>
            </a:r>
          </a:p>
          <a:p>
            <a:pPr>
              <a:spcBef>
                <a:spcPts val="400"/>
              </a:spcBef>
              <a:buChar char="●"/>
            </a:pPr>
            <a:r>
              <a:rPr sz="1300" b="0">
                <a:solidFill>
                  <a:srgbClr val="242834"/>
                </a:solidFill>
                <a:latin typeface="Arial"/>
              </a:rPr>
              <a:t>Адаптеры: PCI-парсер, база pci.ids, пресеты подсистем</a:t>
            </a:r>
          </a:p>
          <a:p>
            <a:pPr>
              <a:spcBef>
                <a:spcPts val="400"/>
              </a:spcBef>
              <a:buChar char="●"/>
            </a:pPr>
            <a:r>
              <a:rPr sz="1300" b="0">
                <a:solidFill>
                  <a:srgbClr val="242834"/>
                </a:solidFill>
                <a:latin typeface="Arial"/>
              </a:rPr>
              <a:t>Менеджер состояний: автосохранение прогресса в .progress.json</a:t>
            </a:r>
          </a:p>
          <a:p>
            <a:pPr>
              <a:spcBef>
                <a:spcPts val="400"/>
              </a:spcBef>
              <a:buChar char="●"/>
            </a:pPr>
            <a:r>
              <a:rPr sz="1300" b="0">
                <a:solidFill>
                  <a:srgbClr val="242834"/>
                </a:solidFill>
                <a:latin typeface="Arial"/>
              </a:rPr>
              <a:t>Валидация: контроль формата на каждом этапе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269C9"/>
                </a:solidFill>
                <a:latin typeface="Arial"/>
              </a:rPr>
              <a:t>Стек реализации: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3050000"/>
            <a:ext cx="5000000" cy="500000"/>
          </a:xfrm>
          <a:prstGeom prst="round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C++17 + Qt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3700000"/>
            <a:ext cx="5000000" cy="500000"/>
          </a:xfrm>
          <a:prstGeom prst="roundRect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QML (Material.Dark)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4350000"/>
            <a:ext cx="5000000" cy="500000"/>
          </a:xfrm>
          <a:prstGeom prst="roundRect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pci.ids (&gt;20 000 записей)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000" y="5000000"/>
            <a:ext cx="5000000" cy="500000"/>
          </a:xfrm>
          <a:prstGeom prst="roundRect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JSON-пресеты подсистем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5650000"/>
            <a:ext cx="5000000" cy="500000"/>
          </a:xfrm>
          <a:prstGeom prst="round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Jenkins PDF-генератор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Эффективность оркестрации: до и после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863" y="1050000"/>
            <a:ext cx="5200000" cy="5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Без оркестрации (вручную)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Сбор данных PCI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000" y="1750000"/>
            <a:ext cx="1760000" cy="3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0" y="17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0F47"/>
                </a:solidFill>
                <a:latin typeface="Arial"/>
              </a:rPr>
              <a:t>~30 мин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Заполнение таблиц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000" y="2250000"/>
            <a:ext cx="2200000" cy="3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0000" y="22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0F47"/>
                </a:solidFill>
                <a:latin typeface="Arial"/>
              </a:rPr>
              <a:t>~60 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Форматирование разметки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000" y="2750000"/>
            <a:ext cx="1980000" cy="3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0000" y="27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0F47"/>
                </a:solidFill>
                <a:latin typeface="Arial"/>
              </a:rPr>
              <a:t>~45 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3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Проверка на ошибки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000" y="3250000"/>
            <a:ext cx="1100000" cy="300000"/>
          </a:xfrm>
          <a:prstGeom prst="rect">
            <a:avLst/>
          </a:prstGeom>
          <a:solidFill>
            <a:srgbClr val="E7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0000" y="32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0F47"/>
                </a:solidFill>
                <a:latin typeface="Arial"/>
              </a:rPr>
              <a:t>~20 мин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050000"/>
            <a:ext cx="5200000" cy="50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С программным оркестратором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0" y="1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Вставка pci -vvv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1750000"/>
            <a:ext cx="220000" cy="30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0000" y="17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A49"/>
                </a:solidFill>
                <a:latin typeface="Arial"/>
              </a:rPr>
              <a:t>~1 мин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Автозаполнение таблиц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250000"/>
            <a:ext cx="330000" cy="30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0000" y="22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A49"/>
                </a:solidFill>
                <a:latin typeface="Arial"/>
              </a:rPr>
              <a:t>~3 мин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000" y="27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Генерация разметки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0" y="2750000"/>
            <a:ext cx="110000" cy="30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0000" y="27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A49"/>
                </a:solidFill>
                <a:latin typeface="Arial"/>
              </a:rPr>
              <a:t>мгновенно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000" y="3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2834"/>
                </a:solidFill>
                <a:latin typeface="Arial"/>
              </a:rPr>
              <a:t>Автовалидация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250000"/>
            <a:ext cx="110000" cy="300000"/>
          </a:xfrm>
          <a:prstGeom prst="rect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0000" y="3230000"/>
            <a:ext cx="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A49"/>
                </a:solidFill>
                <a:latin typeface="Arial"/>
              </a:rPr>
              <a:t>мгновенно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0863" y="4000000"/>
            <a:ext cx="10800000" cy="60000"/>
          </a:xfrm>
          <a:prstGeom prst="rect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863" y="4200000"/>
            <a:ext cx="108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AAA"/>
                </a:solidFill>
                <a:latin typeface="Arial"/>
              </a:rPr>
              <a:t>Общие показатели эффективности оркестрации: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Сокращение ручного труда в 5–10 раз за счёт автоматизации рутинных этапов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Устранение класса ошибок форматирования — валидация на каждом шаге конвейера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Повторяемость: один и тот же процесс гарантирует одинаковый результат</a:t>
            </a:r>
          </a:p>
          <a:p>
            <a:pPr>
              <a:spcBef>
                <a:spcPts val="400"/>
              </a:spcBef>
              <a:buChar char="●"/>
            </a:pPr>
            <a:r>
              <a:rPr sz="1400" b="0">
                <a:solidFill>
                  <a:srgbClr val="242834"/>
                </a:solidFill>
                <a:latin typeface="Arial"/>
              </a:rPr>
              <a:t>Прозрачность: оператор видит текущий этап и может вмешаться при необходимости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3" y="407976"/>
            <a:ext cx="960833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5AAA"/>
                </a:solidFill>
                <a:latin typeface="Arial"/>
              </a:rPr>
              <a:t>Выводы</a:t>
            </a:r>
          </a:p>
        </p:txBody>
      </p:sp>
      <p:sp>
        <p:nvSpPr>
          <p:cNvPr id="3" name="Oval 2"/>
          <p:cNvSpPr/>
          <p:nvPr/>
        </p:nvSpPr>
        <p:spPr>
          <a:xfrm>
            <a:off x="550863" y="1150000"/>
            <a:ext cx="600000" cy="600000"/>
          </a:xfrm>
          <a:prstGeom prst="ellipse">
            <a:avLst/>
          </a:prstGeom>
          <a:solidFill>
            <a:srgbClr val="005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0000" y="115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AAA"/>
                </a:solidFill>
                <a:latin typeface="Arial"/>
              </a:rPr>
              <a:t>Оркестрация — зрелый подход</a:t>
            </a:r>
            <a:r>
              <a:rPr sz="1500">
                <a:solidFill>
                  <a:srgbClr val="242834"/>
                </a:solidFill>
                <a:latin typeface="Arial"/>
              </a:rPr>
              <a:t> к координации сложных многоэтапных процессов, применимый от облачных систем до генерации документов</a:t>
            </a:r>
          </a:p>
        </p:txBody>
      </p:sp>
      <p:sp>
        <p:nvSpPr>
          <p:cNvPr id="5" name="Oval 4"/>
          <p:cNvSpPr/>
          <p:nvPr/>
        </p:nvSpPr>
        <p:spPr>
          <a:xfrm>
            <a:off x="550863" y="2200000"/>
            <a:ext cx="600000" cy="600000"/>
          </a:xfrm>
          <a:prstGeom prst="ellipse">
            <a:avLst/>
          </a:prstGeom>
          <a:solidFill>
            <a:srgbClr val="00B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0000" y="220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EF3"/>
                </a:solidFill>
                <a:latin typeface="Arial"/>
              </a:rPr>
              <a:t>Ключевые паттерны</a:t>
            </a:r>
            <a:r>
              <a:rPr sz="1500">
                <a:solidFill>
                  <a:srgbClr val="242834"/>
                </a:solidFill>
                <a:latin typeface="Arial"/>
              </a:rPr>
              <a:t> — конвейер, медиатор, saga, DAG — покрывают большинство сценариев координации</a:t>
            </a:r>
          </a:p>
        </p:txBody>
      </p:sp>
      <p:sp>
        <p:nvSpPr>
          <p:cNvPr id="7" name="Oval 6"/>
          <p:cNvSpPr/>
          <p:nvPr/>
        </p:nvSpPr>
        <p:spPr>
          <a:xfrm>
            <a:off x="550863" y="3250000"/>
            <a:ext cx="600000" cy="600000"/>
          </a:xfrm>
          <a:prstGeom prst="ellipse">
            <a:avLst/>
          </a:prstGeom>
          <a:solidFill>
            <a:srgbClr val="926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0000" y="325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269C9"/>
                </a:solidFill>
                <a:latin typeface="Arial"/>
              </a:rPr>
              <a:t>Принципы проектирования</a:t>
            </a:r>
            <a:r>
              <a:rPr sz="1500">
                <a:solidFill>
                  <a:srgbClr val="242834"/>
                </a:solidFill>
                <a:latin typeface="Arial"/>
              </a:rPr>
              <a:t> — идемпотентность, слабая связанность, наблюдаемость — обеспечивают надёжность</a:t>
            </a:r>
          </a:p>
        </p:txBody>
      </p:sp>
      <p:sp>
        <p:nvSpPr>
          <p:cNvPr id="9" name="Oval 8"/>
          <p:cNvSpPr/>
          <p:nvPr/>
        </p:nvSpPr>
        <p:spPr>
          <a:xfrm>
            <a:off x="550863" y="4300000"/>
            <a:ext cx="600000" cy="600000"/>
          </a:xfrm>
          <a:prstGeom prst="ellipse">
            <a:avLst/>
          </a:prstGeom>
          <a:solidFill>
            <a:srgbClr val="FF6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0000" y="430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418"/>
                </a:solidFill>
                <a:latin typeface="Arial"/>
              </a:rPr>
              <a:t>Практическая реализация</a:t>
            </a:r>
            <a:r>
              <a:rPr sz="1500">
                <a:solidFill>
                  <a:srgbClr val="242834"/>
                </a:solidFill>
                <a:latin typeface="Arial"/>
              </a:rPr>
              <a:t> подтверждает: даже небольшой оркестратор значительно сокращает трудозатраты и ошибки</a:t>
            </a:r>
          </a:p>
        </p:txBody>
      </p:sp>
      <p:sp>
        <p:nvSpPr>
          <p:cNvPr id="11" name="Oval 10"/>
          <p:cNvSpPr/>
          <p:nvPr/>
        </p:nvSpPr>
        <p:spPr>
          <a:xfrm>
            <a:off x="550863" y="5350000"/>
            <a:ext cx="600000" cy="600000"/>
          </a:xfrm>
          <a:prstGeom prst="ellipse">
            <a:avLst/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000" y="535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A49"/>
                </a:solidFill>
                <a:latin typeface="Arial"/>
              </a:rPr>
              <a:t>Перспективы развития</a:t>
            </a:r>
            <a:r>
              <a:rPr sz="1500">
                <a:solidFill>
                  <a:srgbClr val="242834"/>
                </a:solidFill>
                <a:latin typeface="Arial"/>
              </a:rPr>
              <a:t> — интеграция с внешними API, расширение адаптеров, декларативные описания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0864" y="1800000"/>
            <a:ext cx="10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005AAA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864" y="320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42834"/>
                </a:solidFill>
                <a:latin typeface="Arial"/>
              </a:rPr>
              <a:t>Соколов Илья Дмитриевич</a:t>
            </a:r>
          </a:p>
          <a:p>
            <a:pPr algn="ctr">
              <a:spcBef>
                <a:spcPts val="800"/>
              </a:spcBef>
            </a:pPr>
            <a:r>
              <a:rPr sz="1800" b="0" i="0">
                <a:solidFill>
                  <a:srgbClr val="242834"/>
                </a:solidFill>
                <a:latin typeface="Arial"/>
              </a:rPr>
              <a:t>ГУАП, Санкт-Петербург</a:t>
            </a:r>
          </a:p>
          <a:p>
            <a:pPr algn="ctr">
              <a:spcBef>
                <a:spcPts val="2400"/>
              </a:spcBef>
            </a:pPr>
            <a:r>
              <a:rPr sz="1600" b="0" i="1">
                <a:solidFill>
                  <a:srgbClr val="005AAA"/>
                </a:solidFill>
                <a:latin typeface="Arial"/>
              </a:rPr>
              <a:t>Готов ответить на ваши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598" y="5993952"/>
            <a:ext cx="348854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242834"/>
                </a:solidFill>
                <a:latin typeface="Arial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</TotalTime>
  <Words>1643</Words>
  <Application>Microsoft Office PowerPoint</Application>
  <PresentationFormat>Широкоэкранный</PresentationFormat>
  <Paragraphs>176</Paragraphs>
  <Slides>29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Calibri</vt:lpstr>
      <vt:lpstr>Wingdings</vt:lpstr>
      <vt:lpstr>Arial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Фирменный стиль  презентаций</vt:lpstr>
      <vt:lpstr>Основные правила: направляющие, стили</vt:lpstr>
      <vt:lpstr>Основные правила: макеты и цветовая палитра</vt:lpstr>
      <vt:lpstr>Основные правила: текстовые стили</vt:lpstr>
      <vt:lpstr>Основные правила: текстовые стили</vt:lpstr>
      <vt:lpstr>Основные правила: таблицы</vt:lpstr>
      <vt:lpstr>Основные правила: изображения</vt:lpstr>
      <vt:lpstr>Пример использования  макетов шаблона</vt:lpstr>
      <vt:lpstr>Заголовок презентации</vt:lpstr>
      <vt:lpstr>Текст – один блок</vt:lpstr>
      <vt:lpstr>Текст – два блока</vt:lpstr>
      <vt:lpstr>Текст – два блока (с рамкой)</vt:lpstr>
      <vt:lpstr>Текст – две колонки в одном блоке</vt:lpstr>
      <vt:lpstr>Содержимое слайда в одной колонке (универсальный блок)</vt:lpstr>
      <vt:lpstr>Содержимое слайда в одной колонке с заголовком (универсальный блок)</vt:lpstr>
      <vt:lpstr>Содержимое слайда в двух колонках с заголовками (универсальный блок)</vt:lpstr>
      <vt:lpstr>Текст и диаграмма в двух колонках (универсальный блок)</vt:lpstr>
      <vt:lpstr>Текст и рисунок в двух колонках (универсальный блок)</vt:lpstr>
      <vt:lpstr>Схема с использованием базового набора фигур  (см. Дополнительные материалы, слайд 26)</vt:lpstr>
      <vt:lpstr>Здание ГУАП со стороны реки Мойки</vt:lpstr>
      <vt:lpstr>Презентация PowerPoint</vt:lpstr>
      <vt:lpstr>Презентация PowerPoint</vt:lpstr>
      <vt:lpstr>Дополнительные  материалы </vt:lpstr>
      <vt:lpstr>Иконки подразделений. Фирменный цвет подразделений</vt:lpstr>
      <vt:lpstr>Иконки подразделений. Цветовая палитра ГУАП</vt:lpstr>
      <vt:lpstr>Базовый набор фигур *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Алексей Малышев</cp:lastModifiedBy>
  <cp:revision>2</cp:revision>
  <dcterms:created xsi:type="dcterms:W3CDTF">2023-06-16T08:15:39Z</dcterms:created>
  <dcterms:modified xsi:type="dcterms:W3CDTF">2023-06-16T08:17:59Z</dcterms:modified>
  <cp:category/>
</cp:coreProperties>
</file>